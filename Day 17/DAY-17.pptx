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Lst>
  <p:notesMasterIdLst>
    <p:notesMasterId r:id="rId17"/>
  </p:notesMasterIdLst>
  <p:sldIdLst>
    <p:sldId id="256" r:id="rId4"/>
    <p:sldId id="402" r:id="rId5"/>
    <p:sldId id="276" r:id="rId6"/>
    <p:sldId id="358" r:id="rId7"/>
    <p:sldId id="359" r:id="rId8"/>
    <p:sldId id="360" r:id="rId9"/>
    <p:sldId id="361" r:id="rId10"/>
    <p:sldId id="362" r:id="rId11"/>
    <p:sldId id="365" r:id="rId12"/>
    <p:sldId id="367" r:id="rId13"/>
    <p:sldId id="368" r:id="rId14"/>
    <p:sldId id="419" r:id="rId15"/>
    <p:sldId id="409" r:id="rId16"/>
  </p:sldIdLst>
  <p:sldSz cx="12188825" cy="6858000"/>
  <p:notesSz cx="6858000" cy="9144000"/>
  <p:embeddedFontLst>
    <p:embeddedFont>
      <p:font typeface="Arial Black" panose="020B0A04020102020204" pitchFamily="34" charset="0"/>
      <p:regular r:id="rId18"/>
      <p:bold r:id="rId19"/>
    </p:embeddedFont>
    <p:embeddedFont>
      <p:font typeface="Cambria" panose="02040503050406030204" pitchFamily="18" charset="0"/>
      <p:regular r:id="rId20"/>
      <p:bold r:id="rId21"/>
      <p:italic r:id="rId22"/>
      <p:boldItalic r:id="rId23"/>
    </p:embeddedFont>
    <p:embeddedFont>
      <p:font typeface="Cooper Black" panose="0208090404030B020404" pitchFamily="18" charset="0"/>
      <p:regular r:id="rId24"/>
    </p:embeddedFont>
    <p:embeddedFont>
      <p:font typeface="Corben" panose="020B0604020202020204" charset="0"/>
      <p:bold r:id="rId25"/>
    </p:embeddedFont>
    <p:embeddedFont>
      <p:font typeface="Open Sans" panose="020B0606030504020204" pitchFamily="34" charset="0"/>
      <p:regular r:id="rId26"/>
      <p:bold r:id="rId27"/>
      <p:italic r:id="rId28"/>
      <p:boldItalic r:id="rId29"/>
    </p:embeddedFont>
    <p:embeddedFont>
      <p:font typeface="Quattrocento Sans" panose="020B0502050000020003" pitchFamily="34" charset="0"/>
      <p:regular r:id="rId30"/>
      <p:bold r:id="rId31"/>
      <p:italic r:id="rId32"/>
      <p:boldItalic r:id="rId33"/>
    </p:embeddedFont>
    <p:embeddedFont>
      <p:font typeface="Segoe UI" panose="020B0502040204020203" pitchFamily="34" charset="0"/>
      <p:regular r:id="rId34"/>
      <p:bold r:id="rId35"/>
      <p:italic r:id="rId36"/>
      <p:boldItalic r:id="rId37"/>
    </p:embeddedFont>
    <p:embeddedFont>
      <p:font typeface="Segoe UI Light" panose="020B0502040204020203" pitchFamily="34" charset="0"/>
      <p:regular r:id="rId38"/>
      <p: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font" Target="fonts/font22.fntdata"/><Relationship Id="rId21" Type="http://schemas.openxmlformats.org/officeDocument/2006/relationships/font" Target="fonts/font4.fntdata"/><Relationship Id="rId34" Type="http://schemas.openxmlformats.org/officeDocument/2006/relationships/font" Target="fonts/font17.fntdata"/><Relationship Id="rId7" Type="http://schemas.openxmlformats.org/officeDocument/2006/relationships/slide" Target="slides/slide4.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font" Target="fonts/font20.fntdata"/><Relationship Id="rId20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203" Type="http://customschemas.google.com/relationships/presentationmetadata" Target="metadata"/><Relationship Id="rId10" Type="http://schemas.openxmlformats.org/officeDocument/2006/relationships/slide" Target="slides/slide7.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207" Type="http://schemas.openxmlformats.org/officeDocument/2006/relationships/tableStyles" Target="tableStyles.xml"/><Relationship Id="rId8" Type="http://schemas.openxmlformats.org/officeDocument/2006/relationships/slide" Target="slides/slide5.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font" Target="fonts/font21.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23T08:38:38.542"/>
    </inkml:context>
    <inkml:brush xml:id="br0">
      <inkml:brushProperty name="width" value="0.05" units="cm"/>
      <inkml:brushProperty name="height" value="0.05" units="cm"/>
    </inkml:brush>
  </inkml:definitions>
  <inkml:trace contextRef="#ctx0" brushRef="#br0">4 0 24575,'-3'3'0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5"/>
        <p:cNvGrpSpPr/>
        <p:nvPr/>
      </p:nvGrpSpPr>
      <p:grpSpPr>
        <a:xfrm>
          <a:off x="0" y="0"/>
          <a:ext cx="0" cy="0"/>
          <a:chOff x="0" y="0"/>
          <a:chExt cx="0" cy="0"/>
        </a:xfrm>
      </p:grpSpPr>
      <p:sp>
        <p:nvSpPr>
          <p:cNvPr id="1816" name="Google Shape;1816;p10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7" name="Google Shape;1817;p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2"/>
        <p:cNvGrpSpPr/>
        <p:nvPr/>
      </p:nvGrpSpPr>
      <p:grpSpPr>
        <a:xfrm>
          <a:off x="0" y="0"/>
          <a:ext cx="0" cy="0"/>
          <a:chOff x="0" y="0"/>
          <a:chExt cx="0" cy="0"/>
        </a:xfrm>
      </p:grpSpPr>
      <p:sp>
        <p:nvSpPr>
          <p:cNvPr id="1833" name="Google Shape;1833;p10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4" name="Google Shape;1834;p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2"/>
        <p:cNvGrpSpPr/>
        <p:nvPr/>
      </p:nvGrpSpPr>
      <p:grpSpPr>
        <a:xfrm>
          <a:off x="0" y="0"/>
          <a:ext cx="0" cy="0"/>
          <a:chOff x="0" y="0"/>
          <a:chExt cx="0" cy="0"/>
        </a:xfrm>
      </p:grpSpPr>
      <p:sp>
        <p:nvSpPr>
          <p:cNvPr id="1863" name="Google Shape;1863;p10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64" name="Google Shape;1864;p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2"/>
        <p:cNvGrpSpPr/>
        <p:nvPr/>
      </p:nvGrpSpPr>
      <p:grpSpPr>
        <a:xfrm>
          <a:off x="0" y="0"/>
          <a:ext cx="0" cy="0"/>
          <a:chOff x="0" y="0"/>
          <a:chExt cx="0" cy="0"/>
        </a:xfrm>
      </p:grpSpPr>
      <p:sp>
        <p:nvSpPr>
          <p:cNvPr id="1883" name="Google Shape;1883;p10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4" name="Google Shape;1884;p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5"/>
        <p:cNvGrpSpPr/>
        <p:nvPr/>
      </p:nvGrpSpPr>
      <p:grpSpPr>
        <a:xfrm>
          <a:off x="0" y="0"/>
          <a:ext cx="0" cy="0"/>
          <a:chOff x="0" y="0"/>
          <a:chExt cx="0" cy="0"/>
        </a:xfrm>
      </p:grpSpPr>
      <p:sp>
        <p:nvSpPr>
          <p:cNvPr id="1896" name="Google Shape;1896;p10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97" name="Google Shape;1897;p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p11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4" name="Google Shape;1924;p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6"/>
        <p:cNvGrpSpPr/>
        <p:nvPr/>
      </p:nvGrpSpPr>
      <p:grpSpPr>
        <a:xfrm>
          <a:off x="0" y="0"/>
          <a:ext cx="0" cy="0"/>
          <a:chOff x="0" y="0"/>
          <a:chExt cx="0" cy="0"/>
        </a:xfrm>
      </p:grpSpPr>
      <p:sp>
        <p:nvSpPr>
          <p:cNvPr id="1937" name="Google Shape;1937;p1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38" name="Google Shape;1938;p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5"/>
        <p:cNvGrpSpPr/>
        <p:nvPr/>
      </p:nvGrpSpPr>
      <p:grpSpPr>
        <a:xfrm>
          <a:off x="0" y="0"/>
          <a:ext cx="0" cy="0"/>
          <a:chOff x="0" y="0"/>
          <a:chExt cx="0" cy="0"/>
        </a:xfrm>
      </p:grpSpPr>
      <p:sp>
        <p:nvSpPr>
          <p:cNvPr id="1946" name="Google Shape;1946;p11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7" name="Google Shape;1947;p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74548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9/13/2025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9/13/2025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slideLayout" Target="../slideLayouts/slideLayout2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0" Type="http://schemas.openxmlformats.org/officeDocument/2006/relationships/theme" Target="../theme/theme2.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slideLayout" Target="../slideLayouts/slideLayout23.xml"/><Relationship Id="rId10" Type="http://schemas.openxmlformats.org/officeDocument/2006/relationships/slideLayout" Target="../slideLayouts/slideLayout18.xml"/><Relationship Id="rId19" Type="http://schemas.openxmlformats.org/officeDocument/2006/relationships/slideLayout" Target="../slideLayouts/slideLayout27.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image" Target="../media/image1.png"/><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theme" Target="../theme/theme3.xml"/><Relationship Id="rId2" Type="http://schemas.openxmlformats.org/officeDocument/2006/relationships/slideLayout" Target="../slideLayouts/slideLayout29.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 id="2147483745"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9/13/2025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30.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7.jpeg"/><Relationship Id="rId7" Type="http://schemas.openxmlformats.org/officeDocument/2006/relationships/image" Target="../media/image11.tiff"/><Relationship Id="rId2" Type="http://schemas.openxmlformats.org/officeDocument/2006/relationships/notesSlide" Target="../notesSlides/notesSlide11.xml"/><Relationship Id="rId1" Type="http://schemas.openxmlformats.org/officeDocument/2006/relationships/slideLayout" Target="../slideLayouts/slideLayout38.xml"/><Relationship Id="rId6" Type="http://schemas.openxmlformats.org/officeDocument/2006/relationships/image" Target="../media/image10.tiff"/><Relationship Id="rId5" Type="http://schemas.openxmlformats.org/officeDocument/2006/relationships/image" Target="../media/image9.tiff"/><Relationship Id="rId4" Type="http://schemas.openxmlformats.org/officeDocument/2006/relationships/image" Target="../media/image8.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DAY-17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1076224"/>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Unmanaged Scenario</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373010"/>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Implement the CURD</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Approver Scenario</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Implement Approval</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18"/>
        <p:cNvGrpSpPr/>
        <p:nvPr/>
      </p:nvGrpSpPr>
      <p:grpSpPr>
        <a:xfrm>
          <a:off x="0" y="0"/>
          <a:ext cx="0" cy="0"/>
          <a:chOff x="0" y="0"/>
          <a:chExt cx="0" cy="0"/>
        </a:xfrm>
      </p:grpSpPr>
      <p:sp>
        <p:nvSpPr>
          <p:cNvPr id="1820" name="Google Shape;1820;p103"/>
          <p:cNvSpPr txBox="1"/>
          <p:nvPr/>
        </p:nvSpPr>
        <p:spPr>
          <a:xfrm>
            <a:off x="233115" y="867968"/>
            <a:ext cx="11806237"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Imagine in our company we had written all the business logic in the past </a:t>
            </a:r>
            <a:r>
              <a:rPr lang="en-US" sz="1800" dirty="0" err="1">
                <a:solidFill>
                  <a:schemeClr val="dk1"/>
                </a:solidFill>
                <a:latin typeface="Calibri"/>
                <a:ea typeface="Calibri"/>
                <a:cs typeface="Calibri"/>
                <a:sym typeface="Calibri"/>
              </a:rPr>
              <a:t>ourself</a:t>
            </a:r>
            <a:r>
              <a:rPr lang="en-US" sz="1800" dirty="0">
                <a:solidFill>
                  <a:schemeClr val="dk1"/>
                </a:solidFill>
                <a:latin typeface="Calibri"/>
                <a:ea typeface="Calibri"/>
                <a:cs typeface="Calibri"/>
                <a:sym typeface="Calibri"/>
              </a:rPr>
              <a:t> in form of FM, Classes. Today we want to reuse our old code which has the business logic, validation, sequence, processing, along with transaction buffer. So if you want to manage all these codes yourself and integrate your legacy (old code written by you or your team), you will opt for unmanaged (here RAP is not managing the CURD operation) scenario.</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SAP is providing a demo class for learning purpose viz. </a:t>
            </a:r>
            <a:r>
              <a:rPr lang="en-US" sz="1800" dirty="0">
                <a:solidFill>
                  <a:srgbClr val="000000"/>
                </a:solidFill>
                <a:highlight>
                  <a:srgbClr val="F0D8A8"/>
                </a:highlight>
                <a:latin typeface="Arial"/>
                <a:ea typeface="Arial"/>
                <a:cs typeface="Arial"/>
                <a:sym typeface="Arial"/>
              </a:rPr>
              <a:t>/</a:t>
            </a:r>
            <a:r>
              <a:rPr lang="en-US" sz="1800" dirty="0" err="1">
                <a:solidFill>
                  <a:srgbClr val="000000"/>
                </a:solidFill>
                <a:highlight>
                  <a:srgbClr val="F0D8A8"/>
                </a:highlight>
                <a:latin typeface="Arial"/>
                <a:ea typeface="Arial"/>
                <a:cs typeface="Arial"/>
                <a:sym typeface="Arial"/>
              </a:rPr>
              <a:t>dmo</a:t>
            </a:r>
            <a:r>
              <a:rPr lang="en-US" sz="1800" dirty="0">
                <a:solidFill>
                  <a:srgbClr val="000000"/>
                </a:solidFill>
                <a:highlight>
                  <a:srgbClr val="F0D8A8"/>
                </a:highlight>
                <a:latin typeface="Arial"/>
                <a:ea typeface="Arial"/>
                <a:cs typeface="Arial"/>
                <a:sym typeface="Arial"/>
              </a:rPr>
              <a:t>/</a:t>
            </a:r>
            <a:r>
              <a:rPr lang="en-US" sz="1800" dirty="0" err="1">
                <a:solidFill>
                  <a:srgbClr val="000000"/>
                </a:solidFill>
                <a:highlight>
                  <a:srgbClr val="F0D8A8"/>
                </a:highlight>
                <a:latin typeface="Arial"/>
                <a:ea typeface="Arial"/>
                <a:cs typeface="Arial"/>
                <a:sym typeface="Arial"/>
              </a:rPr>
              <a:t>cl_flight_legacy</a:t>
            </a:r>
            <a:endParaRPr sz="1800" dirty="0">
              <a:solidFill>
                <a:srgbClr val="000000"/>
              </a:solidFill>
              <a:highlight>
                <a:srgbClr val="F0D8A8"/>
              </a:highlight>
              <a:latin typeface="Arial"/>
              <a:ea typeface="Arial"/>
              <a:cs typeface="Arial"/>
              <a:sym typeface="Arial"/>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In this class we have our own old logic which contains the transaction buffer and business logic to maintain all the source code to interact with database </a:t>
            </a:r>
            <a:r>
              <a:rPr lang="en-US" sz="1800" dirty="0" err="1">
                <a:solidFill>
                  <a:schemeClr val="dk1"/>
                </a:solidFill>
                <a:latin typeface="Calibri"/>
                <a:ea typeface="Calibri"/>
                <a:cs typeface="Calibri"/>
                <a:sym typeface="Calibri"/>
              </a:rPr>
              <a:t>ourself</a:t>
            </a:r>
            <a:r>
              <a:rPr lang="en-US" sz="1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RAP framework allows us to implement the entire runtime of the BO</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Interaction Phase (code to interact and keep data inside </a:t>
            </a:r>
            <a:r>
              <a:rPr lang="en-US" sz="1800" dirty="0" err="1">
                <a:solidFill>
                  <a:schemeClr val="dk1"/>
                </a:solidFill>
                <a:latin typeface="Calibri"/>
                <a:ea typeface="Calibri"/>
                <a:cs typeface="Calibri"/>
                <a:sym typeface="Calibri"/>
              </a:rPr>
              <a:t>itab</a:t>
            </a:r>
            <a:r>
              <a:rPr lang="en-US" sz="1800" dirty="0">
                <a:solidFill>
                  <a:schemeClr val="dk1"/>
                </a:solidFill>
                <a:latin typeface="Calibri"/>
                <a:ea typeface="Calibri"/>
                <a:cs typeface="Calibri"/>
                <a:sym typeface="Calibri"/>
              </a:rPr>
              <a:t>)</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Transaction Buffer (like a internal table where we keep temporary data)</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Save Sequence (Commit work and Rollback)</a:t>
            </a:r>
            <a:endParaRPr dirty="0"/>
          </a:p>
        </p:txBody>
      </p:sp>
      <p:sp>
        <p:nvSpPr>
          <p:cNvPr id="1821" name="Google Shape;1821;p103"/>
          <p:cNvSpPr txBox="1"/>
          <p:nvPr/>
        </p:nvSpPr>
        <p:spPr>
          <a:xfrm>
            <a:off x="224979" y="178329"/>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Reference Scenario – Unmanaged </a:t>
            </a:r>
            <a:r>
              <a:rPr lang="en-US" sz="3599" dirty="0" err="1">
                <a:solidFill>
                  <a:srgbClr val="FFC000"/>
                </a:solidFill>
                <a:latin typeface="Cooper Black" panose="0208090404030B020404" pitchFamily="18" charset="0"/>
                <a:ea typeface="Corben"/>
                <a:cs typeface="Corben"/>
                <a:sym typeface="Corben"/>
              </a:rPr>
              <a:t>Impl</a:t>
            </a:r>
            <a:r>
              <a:rPr lang="en-US" sz="3599" dirty="0">
                <a:solidFill>
                  <a:srgbClr val="FFC000"/>
                </a:solidFill>
                <a:latin typeface="Cooper Black" panose="0208090404030B020404" pitchFamily="18" charset="0"/>
                <a:ea typeface="Corben"/>
                <a:cs typeface="Corben"/>
                <a:sym typeface="Corben"/>
              </a:rPr>
              <a:t>.</a:t>
            </a:r>
            <a:endParaRPr sz="3599" dirty="0">
              <a:solidFill>
                <a:srgbClr val="FFC000"/>
              </a:solidFill>
              <a:latin typeface="Cooper Black" panose="0208090404030B020404" pitchFamily="18" charset="0"/>
              <a:ea typeface="Corben"/>
              <a:cs typeface="Corben"/>
              <a:sym typeface="Corben"/>
            </a:endParaRPr>
          </a:p>
        </p:txBody>
      </p:sp>
      <p:sp>
        <p:nvSpPr>
          <p:cNvPr id="1824" name="Google Shape;1824;p103"/>
          <p:cNvSpPr/>
          <p:nvPr/>
        </p:nvSpPr>
        <p:spPr>
          <a:xfrm>
            <a:off x="3674740" y="4228143"/>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UPDATE_BAPI</a:t>
            </a:r>
            <a:endParaRPr/>
          </a:p>
          <a:p>
            <a:pPr marL="0" marR="0" lvl="0" indent="0" algn="ctr" rtl="0">
              <a:spcBef>
                <a:spcPts val="0"/>
              </a:spcBef>
              <a:spcAft>
                <a:spcPts val="0"/>
              </a:spcAft>
              <a:buNone/>
            </a:pPr>
            <a:r>
              <a:rPr lang="en-US" sz="2400">
                <a:solidFill>
                  <a:schemeClr val="lt1"/>
                </a:solidFill>
                <a:latin typeface="Calibri"/>
                <a:ea typeface="Calibri"/>
                <a:cs typeface="Calibri"/>
                <a:sym typeface="Calibri"/>
              </a:rPr>
              <a:t>(LUW)</a:t>
            </a:r>
            <a:endParaRPr/>
          </a:p>
        </p:txBody>
      </p:sp>
      <p:sp>
        <p:nvSpPr>
          <p:cNvPr id="1825" name="Google Shape;1825;p103"/>
          <p:cNvSpPr/>
          <p:nvPr/>
        </p:nvSpPr>
        <p:spPr>
          <a:xfrm>
            <a:off x="2954660" y="4380832"/>
            <a:ext cx="576064" cy="504056"/>
          </a:xfrm>
          <a:prstGeom prst="rightArrow">
            <a:avLst>
              <a:gd name="adj1" fmla="val 50000"/>
              <a:gd name="adj2" fmla="val 50000"/>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26" name="Google Shape;1826;p103"/>
          <p:cNvSpPr/>
          <p:nvPr/>
        </p:nvSpPr>
        <p:spPr>
          <a:xfrm>
            <a:off x="7851204" y="4668864"/>
            <a:ext cx="1152128" cy="576064"/>
          </a:xfrm>
          <a:prstGeom prst="flowChartMagneticDisk">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cxnSp>
        <p:nvCxnSpPr>
          <p:cNvPr id="1827" name="Google Shape;1827;p103"/>
          <p:cNvCxnSpPr>
            <a:endCxn id="1826" idx="2"/>
          </p:cNvCxnSpPr>
          <p:nvPr/>
        </p:nvCxnSpPr>
        <p:spPr>
          <a:xfrm>
            <a:off x="6555204" y="4524896"/>
            <a:ext cx="1296000" cy="432000"/>
          </a:xfrm>
          <a:prstGeom prst="straightConnector1">
            <a:avLst/>
          </a:prstGeom>
          <a:noFill/>
          <a:ln w="9525" cap="flat" cmpd="sng">
            <a:solidFill>
              <a:schemeClr val="accent1"/>
            </a:solidFill>
            <a:prstDash val="solid"/>
            <a:miter lim="800000"/>
            <a:headEnd type="none" w="sm" len="sm"/>
            <a:tailEnd type="triangle" w="med" len="med"/>
          </a:ln>
        </p:spPr>
      </p:cxnSp>
      <p:sp>
        <p:nvSpPr>
          <p:cNvPr id="1828" name="Google Shape;1828;p103"/>
          <p:cNvSpPr/>
          <p:nvPr/>
        </p:nvSpPr>
        <p:spPr>
          <a:xfrm>
            <a:off x="2229408" y="5432568"/>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BAPI_TR_COMMIT</a:t>
            </a:r>
            <a:endParaRPr/>
          </a:p>
        </p:txBody>
      </p:sp>
      <p:sp>
        <p:nvSpPr>
          <p:cNvPr id="1829" name="Google Shape;1829;p103"/>
          <p:cNvSpPr/>
          <p:nvPr/>
        </p:nvSpPr>
        <p:spPr>
          <a:xfrm>
            <a:off x="5450360" y="5438067"/>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BAPI_TR_ROLLBACK</a:t>
            </a:r>
            <a:endParaRPr/>
          </a:p>
        </p:txBody>
      </p:sp>
      <p:cxnSp>
        <p:nvCxnSpPr>
          <p:cNvPr id="1830" name="Google Shape;1830;p103"/>
          <p:cNvCxnSpPr>
            <a:stCxn id="1828" idx="2"/>
            <a:endCxn id="1826" idx="4"/>
          </p:cNvCxnSpPr>
          <p:nvPr/>
        </p:nvCxnSpPr>
        <p:spPr>
          <a:xfrm rot="-5400000">
            <a:off x="5720522" y="2941906"/>
            <a:ext cx="1267800" cy="5297700"/>
          </a:xfrm>
          <a:prstGeom prst="bentConnector4">
            <a:avLst>
              <a:gd name="adj1" fmla="val -18031"/>
              <a:gd name="adj2" fmla="val 104316"/>
            </a:avLst>
          </a:prstGeom>
          <a:noFill/>
          <a:ln w="9525" cap="flat" cmpd="sng">
            <a:solidFill>
              <a:schemeClr val="accent1"/>
            </a:solidFill>
            <a:prstDash val="solid"/>
            <a:miter lim="800000"/>
            <a:headEnd type="none" w="sm" len="sm"/>
            <a:tailEnd type="triangle" w="med" len="med"/>
          </a:ln>
        </p:spPr>
      </p:cxnSp>
      <p:cxnSp>
        <p:nvCxnSpPr>
          <p:cNvPr id="1831" name="Google Shape;1831;p103"/>
          <p:cNvCxnSpPr>
            <a:stCxn id="1829" idx="2"/>
            <a:endCxn id="1826" idx="4"/>
          </p:cNvCxnSpPr>
          <p:nvPr/>
        </p:nvCxnSpPr>
        <p:spPr>
          <a:xfrm rot="-5400000">
            <a:off x="7328374" y="4555105"/>
            <a:ext cx="1273200" cy="2076900"/>
          </a:xfrm>
          <a:prstGeom prst="bentConnector4">
            <a:avLst>
              <a:gd name="adj1" fmla="val -17955"/>
              <a:gd name="adj2" fmla="val 111002"/>
            </a:avLst>
          </a:prstGeom>
          <a:noFill/>
          <a:ln w="9525" cap="flat" cmpd="sng">
            <a:solidFill>
              <a:schemeClr val="accent1"/>
            </a:solidFill>
            <a:prstDash val="solid"/>
            <a:miter lim="800000"/>
            <a:headEnd type="none" w="sm" len="sm"/>
            <a:tailEnd type="triangle" w="med" len="med"/>
          </a:ln>
        </p:spPr>
      </p:cxn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5D2EC49A-4812-8B02-5684-5CD94DB4A79B}"/>
                  </a:ext>
                </a:extLst>
              </p14:cNvPr>
              <p14:cNvContentPartPr/>
              <p14:nvPr/>
            </p14:nvContentPartPr>
            <p14:xfrm>
              <a:off x="5761372" y="1920639"/>
              <a:ext cx="1440" cy="1440"/>
            </p14:xfrm>
          </p:contentPart>
        </mc:Choice>
        <mc:Fallback xmlns="">
          <p:pic>
            <p:nvPicPr>
              <p:cNvPr id="2" name="Ink 1">
                <a:extLst>
                  <a:ext uri="{FF2B5EF4-FFF2-40B4-BE49-F238E27FC236}">
                    <a16:creationId xmlns:a16="http://schemas.microsoft.com/office/drawing/2014/main" id="{5D2EC49A-4812-8B02-5684-5CD94DB4A79B}"/>
                  </a:ext>
                </a:extLst>
              </p:cNvPr>
              <p:cNvPicPr/>
              <p:nvPr/>
            </p:nvPicPr>
            <p:blipFill>
              <a:blip r:embed="rId5"/>
              <a:stretch>
                <a:fillRect/>
              </a:stretch>
            </p:blipFill>
            <p:spPr>
              <a:xfrm>
                <a:off x="5752732" y="1911639"/>
                <a:ext cx="19080" cy="1908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35"/>
        <p:cNvGrpSpPr/>
        <p:nvPr/>
      </p:nvGrpSpPr>
      <p:grpSpPr>
        <a:xfrm>
          <a:off x="0" y="0"/>
          <a:ext cx="0" cy="0"/>
          <a:chOff x="0" y="0"/>
          <a:chExt cx="0" cy="0"/>
        </a:xfrm>
      </p:grpSpPr>
      <p:sp>
        <p:nvSpPr>
          <p:cNvPr id="1836" name="Google Shape;1836;p104"/>
          <p:cNvSpPr/>
          <p:nvPr/>
        </p:nvSpPr>
        <p:spPr>
          <a:xfrm>
            <a:off x="2069310" y="2052271"/>
            <a:ext cx="3060338" cy="1944216"/>
          </a:xfrm>
          <a:prstGeom prst="rect">
            <a:avLst/>
          </a:prstGeom>
          <a:solidFill>
            <a:schemeClr val="accent4"/>
          </a:solidFill>
          <a:ln w="12700" cap="flat" cmpd="sng">
            <a:solidFill>
              <a:srgbClr val="6B51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38" name="Google Shape;1838;p104"/>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a:t>
            </a:r>
            <a:endParaRPr sz="3599" dirty="0">
              <a:solidFill>
                <a:srgbClr val="FFC000"/>
              </a:solidFill>
              <a:latin typeface="Cooper Black" panose="0208090404030B020404" pitchFamily="18" charset="0"/>
              <a:ea typeface="Corben"/>
              <a:cs typeface="Corben"/>
              <a:sym typeface="Corben"/>
            </a:endParaRPr>
          </a:p>
        </p:txBody>
      </p:sp>
      <p:sp>
        <p:nvSpPr>
          <p:cNvPr id="1841" name="Google Shape;1841;p104"/>
          <p:cNvSpPr/>
          <p:nvPr/>
        </p:nvSpPr>
        <p:spPr>
          <a:xfrm>
            <a:off x="1511247" y="4517438"/>
            <a:ext cx="2088232"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Agency</a:t>
            </a:r>
            <a:endParaRPr/>
          </a:p>
        </p:txBody>
      </p:sp>
      <p:sp>
        <p:nvSpPr>
          <p:cNvPr id="1842" name="Google Shape;1842;p104"/>
          <p:cNvSpPr/>
          <p:nvPr/>
        </p:nvSpPr>
        <p:spPr>
          <a:xfrm>
            <a:off x="4373566" y="4517438"/>
            <a:ext cx="2088232"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Customer</a:t>
            </a:r>
            <a:endParaRPr dirty="0"/>
          </a:p>
        </p:txBody>
      </p:sp>
      <p:sp>
        <p:nvSpPr>
          <p:cNvPr id="1843" name="Google Shape;1843;p104"/>
          <p:cNvSpPr/>
          <p:nvPr/>
        </p:nvSpPr>
        <p:spPr>
          <a:xfrm>
            <a:off x="1781278" y="5626982"/>
            <a:ext cx="1512168"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agency</a:t>
            </a:r>
            <a:endParaRPr dirty="0"/>
          </a:p>
        </p:txBody>
      </p:sp>
      <p:sp>
        <p:nvSpPr>
          <p:cNvPr id="1844" name="Google Shape;1844;p104"/>
          <p:cNvSpPr/>
          <p:nvPr/>
        </p:nvSpPr>
        <p:spPr>
          <a:xfrm>
            <a:off x="4661598" y="5626982"/>
            <a:ext cx="1512168"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customer</a:t>
            </a:r>
            <a:endParaRPr dirty="0"/>
          </a:p>
        </p:txBody>
      </p:sp>
      <p:sp>
        <p:nvSpPr>
          <p:cNvPr id="1845" name="Google Shape;1845;p104"/>
          <p:cNvSpPr/>
          <p:nvPr/>
        </p:nvSpPr>
        <p:spPr>
          <a:xfrm>
            <a:off x="7541918" y="5607147"/>
            <a:ext cx="2150306"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a:t>
            </a:r>
            <a:r>
              <a:rPr lang="en-US" sz="1600" dirty="0" err="1">
                <a:solidFill>
                  <a:schemeClr val="lt1"/>
                </a:solidFill>
                <a:latin typeface="Calibri"/>
                <a:ea typeface="Calibri"/>
                <a:cs typeface="Calibri"/>
                <a:sym typeface="Calibri"/>
              </a:rPr>
              <a:t>dmo</a:t>
            </a:r>
            <a:r>
              <a:rPr lang="en-US" sz="1600" dirty="0">
                <a:solidFill>
                  <a:schemeClr val="lt1"/>
                </a:solidFill>
                <a:latin typeface="Calibri"/>
                <a:ea typeface="Calibri"/>
                <a:cs typeface="Calibri"/>
                <a:sym typeface="Calibri"/>
              </a:rPr>
              <a:t>/travel</a:t>
            </a:r>
            <a:endParaRPr dirty="0"/>
          </a:p>
        </p:txBody>
      </p:sp>
      <p:sp>
        <p:nvSpPr>
          <p:cNvPr id="1846" name="Google Shape;1846;p104"/>
          <p:cNvSpPr/>
          <p:nvPr/>
        </p:nvSpPr>
        <p:spPr>
          <a:xfrm>
            <a:off x="5616946" y="3348233"/>
            <a:ext cx="2088232" cy="520471"/>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err="1">
                <a:solidFill>
                  <a:schemeClr val="lt1"/>
                </a:solidFill>
                <a:latin typeface="Calibri"/>
                <a:ea typeface="Calibri"/>
                <a:cs typeface="Calibri"/>
                <a:sym typeface="Calibri"/>
              </a:rPr>
              <a:t>Travel_U</a:t>
            </a:r>
            <a:endParaRPr sz="2400" dirty="0">
              <a:solidFill>
                <a:schemeClr val="lt1"/>
              </a:solidFill>
              <a:latin typeface="Calibri"/>
              <a:ea typeface="Calibri"/>
              <a:cs typeface="Calibri"/>
              <a:sym typeface="Calibri"/>
            </a:endParaRPr>
          </a:p>
        </p:txBody>
      </p:sp>
      <p:cxnSp>
        <p:nvCxnSpPr>
          <p:cNvPr id="1847" name="Google Shape;1847;p104"/>
          <p:cNvCxnSpPr>
            <a:stCxn id="1844" idx="0"/>
            <a:endCxn id="1842" idx="2"/>
          </p:cNvCxnSpPr>
          <p:nvPr/>
        </p:nvCxnSpPr>
        <p:spPr>
          <a:xfrm rot="10800000">
            <a:off x="5417682" y="5309582"/>
            <a:ext cx="0" cy="317400"/>
          </a:xfrm>
          <a:prstGeom prst="straightConnector1">
            <a:avLst/>
          </a:prstGeom>
          <a:noFill/>
          <a:ln w="9525" cap="flat" cmpd="sng">
            <a:solidFill>
              <a:schemeClr val="accent1"/>
            </a:solidFill>
            <a:prstDash val="solid"/>
            <a:miter lim="800000"/>
            <a:headEnd type="none" w="sm" len="sm"/>
            <a:tailEnd type="triangle" w="med" len="med"/>
          </a:ln>
        </p:spPr>
      </p:cxnSp>
      <p:cxnSp>
        <p:nvCxnSpPr>
          <p:cNvPr id="1848" name="Google Shape;1848;p104"/>
          <p:cNvCxnSpPr>
            <a:stCxn id="1843" idx="0"/>
            <a:endCxn id="1841" idx="2"/>
          </p:cNvCxnSpPr>
          <p:nvPr/>
        </p:nvCxnSpPr>
        <p:spPr>
          <a:xfrm flipV="1">
            <a:off x="2537362" y="5309526"/>
            <a:ext cx="18001" cy="317456"/>
          </a:xfrm>
          <a:prstGeom prst="straightConnector1">
            <a:avLst/>
          </a:prstGeom>
          <a:noFill/>
          <a:ln w="9525" cap="flat" cmpd="sng">
            <a:solidFill>
              <a:schemeClr val="accent1"/>
            </a:solidFill>
            <a:prstDash val="solid"/>
            <a:miter lim="800000"/>
            <a:headEnd type="none" w="sm" len="sm"/>
            <a:tailEnd type="triangle" w="med" len="med"/>
          </a:ln>
        </p:spPr>
      </p:cxnSp>
      <p:cxnSp>
        <p:nvCxnSpPr>
          <p:cNvPr id="1849" name="Google Shape;1849;p104"/>
          <p:cNvCxnSpPr>
            <a:stCxn id="1842" idx="0"/>
            <a:endCxn id="1846" idx="2"/>
          </p:cNvCxnSpPr>
          <p:nvPr/>
        </p:nvCxnSpPr>
        <p:spPr>
          <a:xfrm rot="-5400000">
            <a:off x="5715132" y="3571388"/>
            <a:ext cx="648600" cy="1243500"/>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cxnSp>
        <p:nvCxnSpPr>
          <p:cNvPr id="1850" name="Google Shape;1850;p104"/>
          <p:cNvCxnSpPr>
            <a:stCxn id="1841" idx="0"/>
            <a:endCxn id="1846" idx="2"/>
          </p:cNvCxnSpPr>
          <p:nvPr/>
        </p:nvCxnSpPr>
        <p:spPr>
          <a:xfrm rot="5400000" flipH="1" flipV="1">
            <a:off x="4283845" y="2140222"/>
            <a:ext cx="648734" cy="4105699"/>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cxnSp>
        <p:nvCxnSpPr>
          <p:cNvPr id="1851" name="Google Shape;1851;p104"/>
          <p:cNvCxnSpPr>
            <a:stCxn id="1845" idx="0"/>
          </p:cNvCxnSpPr>
          <p:nvPr/>
        </p:nvCxnSpPr>
        <p:spPr>
          <a:xfrm rot="10800000">
            <a:off x="7076271" y="3852447"/>
            <a:ext cx="1540800" cy="1754700"/>
          </a:xfrm>
          <a:prstGeom prst="straightConnector1">
            <a:avLst/>
          </a:prstGeom>
          <a:noFill/>
          <a:ln w="9525" cap="flat" cmpd="sng">
            <a:solidFill>
              <a:schemeClr val="accent1"/>
            </a:solidFill>
            <a:prstDash val="solid"/>
            <a:miter lim="800000"/>
            <a:headEnd type="none" w="sm" len="sm"/>
            <a:tailEnd type="triangle" w="med" len="med"/>
          </a:ln>
        </p:spPr>
      </p:cxnSp>
      <p:sp>
        <p:nvSpPr>
          <p:cNvPr id="1852" name="Google Shape;1852;p104"/>
          <p:cNvSpPr/>
          <p:nvPr/>
        </p:nvSpPr>
        <p:spPr>
          <a:xfrm>
            <a:off x="8334007" y="3368094"/>
            <a:ext cx="2376264" cy="500791"/>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Travel_U_MDE</a:t>
            </a:r>
            <a:endParaRPr sz="2400">
              <a:solidFill>
                <a:schemeClr val="lt1"/>
              </a:solidFill>
              <a:latin typeface="Calibri"/>
              <a:ea typeface="Calibri"/>
              <a:cs typeface="Calibri"/>
              <a:sym typeface="Calibri"/>
            </a:endParaRPr>
          </a:p>
        </p:txBody>
      </p:sp>
      <p:cxnSp>
        <p:nvCxnSpPr>
          <p:cNvPr id="1853" name="Google Shape;1853;p104"/>
          <p:cNvCxnSpPr>
            <a:stCxn id="1846" idx="3"/>
            <a:endCxn id="1852" idx="1"/>
          </p:cNvCxnSpPr>
          <p:nvPr/>
        </p:nvCxnSpPr>
        <p:spPr>
          <a:xfrm>
            <a:off x="7705178" y="3608469"/>
            <a:ext cx="628800" cy="9900"/>
          </a:xfrm>
          <a:prstGeom prst="straightConnector1">
            <a:avLst/>
          </a:prstGeom>
          <a:noFill/>
          <a:ln w="9525" cap="flat" cmpd="sng">
            <a:solidFill>
              <a:schemeClr val="accent1"/>
            </a:solidFill>
            <a:prstDash val="solid"/>
            <a:miter lim="800000"/>
            <a:headEnd type="none" w="sm" len="sm"/>
            <a:tailEnd type="none" w="sm" len="sm"/>
          </a:ln>
        </p:spPr>
      </p:cxnSp>
      <p:sp>
        <p:nvSpPr>
          <p:cNvPr id="1854" name="Google Shape;1854;p104"/>
          <p:cNvSpPr/>
          <p:nvPr/>
        </p:nvSpPr>
        <p:spPr>
          <a:xfrm>
            <a:off x="5544938" y="2154123"/>
            <a:ext cx="2232248"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Serv definition</a:t>
            </a:r>
            <a:endParaRPr/>
          </a:p>
        </p:txBody>
      </p:sp>
      <p:cxnSp>
        <p:nvCxnSpPr>
          <p:cNvPr id="1855" name="Google Shape;1855;p104"/>
          <p:cNvCxnSpPr>
            <a:stCxn id="1846" idx="0"/>
            <a:endCxn id="1854" idx="2"/>
          </p:cNvCxnSpPr>
          <p:nvPr/>
        </p:nvCxnSpPr>
        <p:spPr>
          <a:xfrm rot="10800000">
            <a:off x="6661062" y="2874233"/>
            <a:ext cx="0" cy="474000"/>
          </a:xfrm>
          <a:prstGeom prst="straightConnector1">
            <a:avLst/>
          </a:prstGeom>
          <a:noFill/>
          <a:ln w="9525" cap="flat" cmpd="sng">
            <a:solidFill>
              <a:schemeClr val="accent1"/>
            </a:solidFill>
            <a:prstDash val="solid"/>
            <a:miter lim="800000"/>
            <a:headEnd type="none" w="sm" len="sm"/>
            <a:tailEnd type="triangle" w="med" len="med"/>
          </a:ln>
        </p:spPr>
      </p:cxnSp>
      <p:sp>
        <p:nvSpPr>
          <p:cNvPr id="1856" name="Google Shape;1856;p104"/>
          <p:cNvSpPr/>
          <p:nvPr/>
        </p:nvSpPr>
        <p:spPr>
          <a:xfrm>
            <a:off x="5544938" y="913572"/>
            <a:ext cx="2232248"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Serv Impl.</a:t>
            </a:r>
            <a:endParaRPr/>
          </a:p>
        </p:txBody>
      </p:sp>
      <p:cxnSp>
        <p:nvCxnSpPr>
          <p:cNvPr id="1857" name="Google Shape;1857;p104"/>
          <p:cNvCxnSpPr>
            <a:stCxn id="1854" idx="0"/>
            <a:endCxn id="1856" idx="2"/>
          </p:cNvCxnSpPr>
          <p:nvPr/>
        </p:nvCxnSpPr>
        <p:spPr>
          <a:xfrm rot="10800000">
            <a:off x="6661062" y="1633623"/>
            <a:ext cx="0" cy="520500"/>
          </a:xfrm>
          <a:prstGeom prst="straightConnector1">
            <a:avLst/>
          </a:prstGeom>
          <a:noFill/>
          <a:ln w="9525" cap="flat" cmpd="sng">
            <a:solidFill>
              <a:schemeClr val="accent1"/>
            </a:solidFill>
            <a:prstDash val="solid"/>
            <a:miter lim="800000"/>
            <a:headEnd type="none" w="sm" len="sm"/>
            <a:tailEnd type="triangle" w="med" len="med"/>
          </a:ln>
        </p:spPr>
      </p:cxnSp>
      <p:sp>
        <p:nvSpPr>
          <p:cNvPr id="1858" name="Google Shape;1858;p104"/>
          <p:cNvSpPr/>
          <p:nvPr/>
        </p:nvSpPr>
        <p:spPr>
          <a:xfrm>
            <a:off x="2429351" y="3203737"/>
            <a:ext cx="2431510" cy="648734"/>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 unmanaged</a:t>
            </a:r>
            <a:endParaRPr dirty="0"/>
          </a:p>
        </p:txBody>
      </p:sp>
      <p:sp>
        <p:nvSpPr>
          <p:cNvPr id="1859" name="Google Shape;1859;p104"/>
          <p:cNvSpPr/>
          <p:nvPr/>
        </p:nvSpPr>
        <p:spPr>
          <a:xfrm>
            <a:off x="2429351" y="2237547"/>
            <a:ext cx="2431510" cy="648734"/>
          </a:xfrm>
          <a:prstGeom prst="rect">
            <a:avLst/>
          </a:prstGeom>
          <a:solidFill>
            <a:srgbClr val="FF000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BIMP-unmanaged</a:t>
            </a:r>
            <a:endParaRPr/>
          </a:p>
        </p:txBody>
      </p:sp>
      <p:cxnSp>
        <p:nvCxnSpPr>
          <p:cNvPr id="1860" name="Google Shape;1860;p104"/>
          <p:cNvCxnSpPr>
            <a:stCxn id="1858" idx="3"/>
            <a:endCxn id="1846" idx="1"/>
          </p:cNvCxnSpPr>
          <p:nvPr/>
        </p:nvCxnSpPr>
        <p:spPr>
          <a:xfrm>
            <a:off x="4860861" y="3528104"/>
            <a:ext cx="756000" cy="80400"/>
          </a:xfrm>
          <a:prstGeom prst="straightConnector1">
            <a:avLst/>
          </a:prstGeom>
          <a:noFill/>
          <a:ln w="9525" cap="flat" cmpd="sng">
            <a:solidFill>
              <a:schemeClr val="accent1"/>
            </a:solidFill>
            <a:prstDash val="solid"/>
            <a:miter lim="800000"/>
            <a:headEnd type="none" w="sm" len="sm"/>
            <a:tailEnd type="none" w="sm" len="sm"/>
          </a:ln>
        </p:spPr>
      </p:cxnSp>
      <p:cxnSp>
        <p:nvCxnSpPr>
          <p:cNvPr id="1861" name="Google Shape;1861;p104"/>
          <p:cNvCxnSpPr>
            <a:stCxn id="1859" idx="2"/>
            <a:endCxn id="1858" idx="0"/>
          </p:cNvCxnSpPr>
          <p:nvPr/>
        </p:nvCxnSpPr>
        <p:spPr>
          <a:xfrm>
            <a:off x="3645106" y="2886281"/>
            <a:ext cx="0" cy="317400"/>
          </a:xfrm>
          <a:prstGeom prst="straightConnector1">
            <a:avLst/>
          </a:prstGeom>
          <a:noFill/>
          <a:ln w="9525" cap="flat" cmpd="sng">
            <a:solidFill>
              <a:schemeClr val="accent1"/>
            </a:solidFill>
            <a:prstDash val="solid"/>
            <a:miter lim="800000"/>
            <a:headEnd type="none" w="sm" len="sm"/>
            <a:tailEnd type="none" w="sm" len="sm"/>
          </a:ln>
        </p:spPr>
      </p:cxnSp>
      <p:pic>
        <p:nvPicPr>
          <p:cNvPr id="2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9"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65"/>
        <p:cNvGrpSpPr/>
        <p:nvPr/>
      </p:nvGrpSpPr>
      <p:grpSpPr>
        <a:xfrm>
          <a:off x="0" y="0"/>
          <a:ext cx="0" cy="0"/>
          <a:chOff x="0" y="0"/>
          <a:chExt cx="0" cy="0"/>
        </a:xfrm>
      </p:grpSpPr>
      <p:sp>
        <p:nvSpPr>
          <p:cNvPr id="1867" name="Google Shape;1867;p105"/>
          <p:cNvSpPr txBox="1"/>
          <p:nvPr/>
        </p:nvSpPr>
        <p:spPr>
          <a:xfrm>
            <a:off x="224979" y="788088"/>
            <a:ext cx="1180623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&lt;&gt;</a:t>
            </a:r>
            <a:endParaRPr sz="1800">
              <a:solidFill>
                <a:schemeClr val="dk1"/>
              </a:solidFill>
              <a:latin typeface="Calibri"/>
              <a:ea typeface="Calibri"/>
              <a:cs typeface="Calibri"/>
              <a:sym typeface="Calibri"/>
            </a:endParaRPr>
          </a:p>
        </p:txBody>
      </p:sp>
      <p:sp>
        <p:nvSpPr>
          <p:cNvPr id="1868" name="Google Shape;1868;p10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Title</a:t>
            </a:r>
            <a:endParaRPr sz="3599" dirty="0">
              <a:solidFill>
                <a:srgbClr val="FFC000"/>
              </a:solidFill>
              <a:latin typeface="Cooper Black" panose="0208090404030B020404" pitchFamily="18" charset="0"/>
              <a:ea typeface="Corben"/>
              <a:cs typeface="Corben"/>
              <a:sym typeface="Corben"/>
            </a:endParaRPr>
          </a:p>
        </p:txBody>
      </p:sp>
      <p:sp>
        <p:nvSpPr>
          <p:cNvPr id="1871" name="Google Shape;1871;p105"/>
          <p:cNvSpPr/>
          <p:nvPr/>
        </p:nvSpPr>
        <p:spPr>
          <a:xfrm>
            <a:off x="612471" y="1145484"/>
            <a:ext cx="5544616" cy="46805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72" name="Google Shape;1872;p105"/>
          <p:cNvSpPr/>
          <p:nvPr/>
        </p:nvSpPr>
        <p:spPr>
          <a:xfrm>
            <a:off x="981844" y="1468836"/>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3" name="Google Shape;1873;p105"/>
          <p:cNvSpPr/>
          <p:nvPr/>
        </p:nvSpPr>
        <p:spPr>
          <a:xfrm>
            <a:off x="991516" y="2046611"/>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4" name="Google Shape;1874;p105"/>
          <p:cNvSpPr/>
          <p:nvPr/>
        </p:nvSpPr>
        <p:spPr>
          <a:xfrm>
            <a:off x="981844" y="2641916"/>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5" name="Google Shape;1875;p105"/>
          <p:cNvSpPr/>
          <p:nvPr/>
        </p:nvSpPr>
        <p:spPr>
          <a:xfrm>
            <a:off x="981844" y="3379956"/>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6" name="Google Shape;1876;p105"/>
          <p:cNvSpPr/>
          <p:nvPr/>
        </p:nvSpPr>
        <p:spPr>
          <a:xfrm>
            <a:off x="3914242" y="1451672"/>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7" name="Google Shape;1877;p105"/>
          <p:cNvSpPr/>
          <p:nvPr/>
        </p:nvSpPr>
        <p:spPr>
          <a:xfrm>
            <a:off x="3888183" y="2060848"/>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8" name="Google Shape;1878;p105"/>
          <p:cNvSpPr/>
          <p:nvPr/>
        </p:nvSpPr>
        <p:spPr>
          <a:xfrm>
            <a:off x="3898168" y="2714704"/>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9" name="Google Shape;1879;p105"/>
          <p:cNvSpPr/>
          <p:nvPr/>
        </p:nvSpPr>
        <p:spPr>
          <a:xfrm>
            <a:off x="3881622" y="3323880"/>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80" name="Google Shape;1880;p105"/>
          <p:cNvSpPr/>
          <p:nvPr/>
        </p:nvSpPr>
        <p:spPr>
          <a:xfrm>
            <a:off x="6310436" y="2204864"/>
            <a:ext cx="1224136" cy="2160240"/>
          </a:xfrm>
          <a:prstGeom prst="rightArrow">
            <a:avLst>
              <a:gd name="adj1" fmla="val 50000"/>
              <a:gd name="adj2" fmla="val 50000"/>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81" name="Google Shape;1881;p105"/>
          <p:cNvSpPr txBox="1"/>
          <p:nvPr/>
        </p:nvSpPr>
        <p:spPr>
          <a:xfrm>
            <a:off x="7534572" y="1124744"/>
            <a:ext cx="4166530" cy="489364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Calibri"/>
                <a:ea typeface="Calibri"/>
                <a:cs typeface="Calibri"/>
                <a:sym typeface="Calibri"/>
              </a:rPr>
              <a:t>How you know in the code which fields are changed on the screen by the user.</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So accordingly we can update the data into the database only for the changed fields??</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RAP provides a compiler structure called %control which will tell us what fields were changed on UI. </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We need to tell the RAP, what will be the datatype for the control structure.</a:t>
            </a:r>
            <a:endParaRPr dirty="0"/>
          </a:p>
        </p:txBody>
      </p:sp>
      <p:pic>
        <p:nvPicPr>
          <p:cNvPr id="1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9"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5"/>
        <p:cNvGrpSpPr/>
        <p:nvPr/>
      </p:nvGrpSpPr>
      <p:grpSpPr>
        <a:xfrm>
          <a:off x="0" y="0"/>
          <a:ext cx="0" cy="0"/>
          <a:chOff x="0" y="0"/>
          <a:chExt cx="0" cy="0"/>
        </a:xfrm>
      </p:grpSpPr>
      <p:sp>
        <p:nvSpPr>
          <p:cNvPr id="1887" name="Google Shape;1887;p106"/>
          <p:cNvSpPr txBox="1"/>
          <p:nvPr/>
        </p:nvSpPr>
        <p:spPr>
          <a:xfrm>
            <a:off x="224979" y="788088"/>
            <a:ext cx="11806237"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Calibri"/>
                <a:ea typeface="Calibri"/>
                <a:cs typeface="Calibri"/>
                <a:sym typeface="Calibri"/>
              </a:rPr>
              <a:t>Starring SAP ABAP on Cloud release 2208 SAP started direct support for attachments (PDF, Excel, Images, TXT, Word) including binary files. We must need to create a database table with </a:t>
            </a:r>
            <a:r>
              <a:rPr lang="en-US" sz="1600" dirty="0" err="1">
                <a:solidFill>
                  <a:schemeClr val="dk1"/>
                </a:solidFill>
                <a:latin typeface="Calibri"/>
                <a:ea typeface="Calibri"/>
                <a:cs typeface="Calibri"/>
                <a:sym typeface="Calibri"/>
              </a:rPr>
              <a:t>atleast</a:t>
            </a:r>
            <a:r>
              <a:rPr lang="en-US" sz="1600" dirty="0">
                <a:solidFill>
                  <a:schemeClr val="dk1"/>
                </a:solidFill>
                <a:latin typeface="Calibri"/>
                <a:ea typeface="Calibri"/>
                <a:cs typeface="Calibri"/>
                <a:sym typeface="Calibri"/>
              </a:rPr>
              <a:t> following columns</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Attachment (Data type: RAWSTRING length 0)</a:t>
            </a:r>
            <a:endParaRPr dirty="0"/>
          </a:p>
          <a:p>
            <a:pPr marL="285750" marR="0" lvl="0" indent="-285750" algn="l" rtl="0">
              <a:spcBef>
                <a:spcPts val="0"/>
              </a:spcBef>
              <a:spcAft>
                <a:spcPts val="0"/>
              </a:spcAft>
              <a:buClr>
                <a:schemeClr val="dk1"/>
              </a:buClr>
              <a:buSzPts val="1600"/>
              <a:buFont typeface="Arial"/>
              <a:buChar char="•"/>
            </a:pPr>
            <a:r>
              <a:rPr lang="en-US" sz="1600" dirty="0" err="1">
                <a:solidFill>
                  <a:schemeClr val="dk1"/>
                </a:solidFill>
                <a:latin typeface="Calibri"/>
                <a:ea typeface="Calibri"/>
                <a:cs typeface="Calibri"/>
                <a:sym typeface="Calibri"/>
              </a:rPr>
              <a:t>Mimetype</a:t>
            </a:r>
            <a:r>
              <a:rPr lang="en-US" sz="1600" dirty="0">
                <a:solidFill>
                  <a:schemeClr val="dk1"/>
                </a:solidFill>
                <a:latin typeface="Calibri"/>
                <a:ea typeface="Calibri"/>
                <a:cs typeface="Calibri"/>
                <a:sym typeface="Calibri"/>
              </a:rPr>
              <a:t> (Document type, String128)</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Filename (Document Name, String128)</a:t>
            </a:r>
            <a:endParaRPr dirty="0"/>
          </a:p>
          <a:p>
            <a:pPr marL="0" marR="0" lvl="0" indent="0" algn="l" rtl="0">
              <a:spcBef>
                <a:spcPts val="0"/>
              </a:spcBef>
              <a:spcAft>
                <a:spcPts val="0"/>
              </a:spcAft>
              <a:buNone/>
            </a:pPr>
            <a:endParaRPr sz="1600" dirty="0">
              <a:solidFill>
                <a:schemeClr val="dk1"/>
              </a:solidFill>
              <a:latin typeface="Calibri"/>
              <a:ea typeface="Calibri"/>
              <a:cs typeface="Calibri"/>
              <a:sym typeface="Calibri"/>
            </a:endParaRPr>
          </a:p>
        </p:txBody>
      </p:sp>
      <p:sp>
        <p:nvSpPr>
          <p:cNvPr id="1888" name="Google Shape;1888;p106"/>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Attachments</a:t>
            </a:r>
            <a:endParaRPr sz="3599" dirty="0">
              <a:solidFill>
                <a:srgbClr val="FFC000"/>
              </a:solidFill>
              <a:latin typeface="Cooper Black" panose="0208090404030B020404" pitchFamily="18" charset="0"/>
              <a:ea typeface="Corben"/>
              <a:cs typeface="Corben"/>
              <a:sym typeface="Corben"/>
            </a:endParaRPr>
          </a:p>
        </p:txBody>
      </p:sp>
      <p:sp>
        <p:nvSpPr>
          <p:cNvPr id="1891" name="Google Shape;1891;p106"/>
          <p:cNvSpPr/>
          <p:nvPr/>
        </p:nvSpPr>
        <p:spPr>
          <a:xfrm>
            <a:off x="1773932" y="2852936"/>
            <a:ext cx="2448272" cy="171932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Travel</a:t>
            </a:r>
            <a:endParaRPr/>
          </a:p>
        </p:txBody>
      </p:sp>
      <p:sp>
        <p:nvSpPr>
          <p:cNvPr id="1892" name="Google Shape;1892;p106"/>
          <p:cNvSpPr/>
          <p:nvPr/>
        </p:nvSpPr>
        <p:spPr>
          <a:xfrm>
            <a:off x="7894612" y="2832711"/>
            <a:ext cx="2448272" cy="171932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Attachments</a:t>
            </a:r>
            <a:endParaRPr/>
          </a:p>
        </p:txBody>
      </p:sp>
      <p:cxnSp>
        <p:nvCxnSpPr>
          <p:cNvPr id="1893" name="Google Shape;1893;p106"/>
          <p:cNvCxnSpPr>
            <a:stCxn id="1891" idx="3"/>
            <a:endCxn id="1892" idx="1"/>
          </p:cNvCxnSpPr>
          <p:nvPr/>
        </p:nvCxnSpPr>
        <p:spPr>
          <a:xfrm rot="10800000" flipH="1">
            <a:off x="4222204" y="3692499"/>
            <a:ext cx="3672300" cy="20100"/>
          </a:xfrm>
          <a:prstGeom prst="straightConnector1">
            <a:avLst/>
          </a:prstGeom>
          <a:noFill/>
          <a:ln w="9525" cap="flat" cmpd="sng">
            <a:solidFill>
              <a:schemeClr val="accent1"/>
            </a:solidFill>
            <a:prstDash val="solid"/>
            <a:miter lim="800000"/>
            <a:headEnd type="none" w="sm" len="sm"/>
            <a:tailEnd type="none" w="sm" len="sm"/>
          </a:ln>
        </p:spPr>
      </p:cxnSp>
      <p:sp>
        <p:nvSpPr>
          <p:cNvPr id="1894" name="Google Shape;1894;p106"/>
          <p:cNvSpPr txBox="1"/>
          <p:nvPr/>
        </p:nvSpPr>
        <p:spPr>
          <a:xfrm>
            <a:off x="4366220" y="3140968"/>
            <a:ext cx="345638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		        n</a:t>
            </a:r>
            <a:endParaRPr/>
          </a:p>
        </p:txBody>
      </p:sp>
      <p:pic>
        <p:nvPicPr>
          <p:cNvPr id="11"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8"/>
        <p:cNvGrpSpPr/>
        <p:nvPr/>
      </p:nvGrpSpPr>
      <p:grpSpPr>
        <a:xfrm>
          <a:off x="0" y="0"/>
          <a:ext cx="0" cy="0"/>
          <a:chOff x="0" y="0"/>
          <a:chExt cx="0" cy="0"/>
        </a:xfrm>
      </p:grpSpPr>
      <p:sp>
        <p:nvSpPr>
          <p:cNvPr id="1900" name="Google Shape;1900;p107"/>
          <p:cNvSpPr txBox="1"/>
          <p:nvPr/>
        </p:nvSpPr>
        <p:spPr>
          <a:xfrm>
            <a:off x="224979" y="788088"/>
            <a:ext cx="11806237" cy="3693319"/>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new attachment table according to need and design</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a Interface Entity for the attachment table and mark our attachment field with special attachment annotation, So the RAP framework can treat it as an attachment accordingly.</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Add annotations for admin fields, and user labels.</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composition of our attachment table with travel entity like we had the composition of booking with travel entity.</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a projection view for attachment</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Relationship between Travel processor view with attachment processor view entity</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Enhance the BDEF with attachment like booking</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Also expose the attachment functionality with draft to processor in behavior projection for processor</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Expose the entity of attachment processor in service definition</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Republish the OData V4 binding</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Add the metadata extension for attachment scenario and link a new facet in travel for attachment table</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Testing</a:t>
            </a:r>
            <a:endParaRPr sz="1800" dirty="0">
              <a:solidFill>
                <a:schemeClr val="dk1"/>
              </a:solidFill>
              <a:latin typeface="Calibri"/>
              <a:ea typeface="Calibri"/>
              <a:cs typeface="Calibri"/>
              <a:sym typeface="Calibri"/>
            </a:endParaRPr>
          </a:p>
        </p:txBody>
      </p:sp>
      <p:sp>
        <p:nvSpPr>
          <p:cNvPr id="1901" name="Google Shape;1901;p107"/>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Steps</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7" name="Google Shape;1927;p110"/>
          <p:cNvSpPr txBox="1"/>
          <p:nvPr/>
        </p:nvSpPr>
        <p:spPr>
          <a:xfrm>
            <a:off x="224979" y="788088"/>
            <a:ext cx="1180623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&lt;&gt;</a:t>
            </a:r>
            <a:endParaRPr sz="1800">
              <a:solidFill>
                <a:schemeClr val="dk1"/>
              </a:solidFill>
              <a:latin typeface="Calibri"/>
              <a:ea typeface="Calibri"/>
              <a:cs typeface="Calibri"/>
              <a:sym typeface="Calibri"/>
            </a:endParaRPr>
          </a:p>
        </p:txBody>
      </p:sp>
      <p:sp>
        <p:nvSpPr>
          <p:cNvPr id="1928" name="Google Shape;1928;p110"/>
          <p:cNvSpPr txBox="1"/>
          <p:nvPr/>
        </p:nvSpPr>
        <p:spPr>
          <a:xfrm>
            <a:off x="191294" y="895"/>
            <a:ext cx="11231710" cy="120007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From classic ABAP extensions to ABAP Cloud development</a:t>
            </a:r>
            <a:endParaRPr dirty="0">
              <a:solidFill>
                <a:srgbClr val="FFC000"/>
              </a:solidFill>
              <a:latin typeface="Cooper Black" panose="0208090404030B020404" pitchFamily="18" charset="0"/>
            </a:endParaRPr>
          </a:p>
        </p:txBody>
      </p:sp>
      <p:pic>
        <p:nvPicPr>
          <p:cNvPr id="1931" name="Google Shape;1931;p110"/>
          <p:cNvPicPr preferRelativeResize="0"/>
          <p:nvPr/>
        </p:nvPicPr>
        <p:blipFill rotWithShape="1">
          <a:blip r:embed="rId3">
            <a:alphaModFix/>
          </a:blip>
          <a:srcRect/>
          <a:stretch/>
        </p:blipFill>
        <p:spPr>
          <a:xfrm>
            <a:off x="333772" y="1412776"/>
            <a:ext cx="7772400" cy="3971925"/>
          </a:xfrm>
          <a:prstGeom prst="rect">
            <a:avLst/>
          </a:prstGeom>
          <a:noFill/>
          <a:ln>
            <a:noFill/>
          </a:ln>
        </p:spPr>
      </p:pic>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9"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39"/>
        <p:cNvGrpSpPr/>
        <p:nvPr/>
      </p:nvGrpSpPr>
      <p:grpSpPr>
        <a:xfrm>
          <a:off x="0" y="0"/>
          <a:ext cx="0" cy="0"/>
          <a:chOff x="0" y="0"/>
          <a:chExt cx="0" cy="0"/>
        </a:xfrm>
      </p:grpSpPr>
      <p:sp>
        <p:nvSpPr>
          <p:cNvPr id="1941" name="Google Shape;1941;p112"/>
          <p:cNvSpPr txBox="1"/>
          <p:nvPr/>
        </p:nvSpPr>
        <p:spPr>
          <a:xfrm>
            <a:off x="191294" y="1279407"/>
            <a:ext cx="11806237" cy="1754326"/>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Use public SAP APIs (local or remote) released by SAP to access SAP functionality and SAP data</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Use public SAP extension points released by SAP to extend SAP objects. Modifications to SAP standard objects are not supported (applies to S/4HANA Cloud system)</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Use of </a:t>
            </a:r>
            <a:r>
              <a:rPr lang="en-US" sz="1800" dirty="0" err="1">
                <a:solidFill>
                  <a:schemeClr val="dk1"/>
                </a:solidFill>
                <a:latin typeface="Calibri"/>
                <a:ea typeface="Calibri"/>
                <a:cs typeface="Calibri"/>
                <a:sym typeface="Calibri"/>
              </a:rPr>
              <a:t>Adt</a:t>
            </a:r>
            <a:r>
              <a:rPr lang="en-US" sz="1800" dirty="0">
                <a:solidFill>
                  <a:schemeClr val="dk1"/>
                </a:solidFill>
                <a:latin typeface="Calibri"/>
                <a:ea typeface="Calibri"/>
                <a:cs typeface="Calibri"/>
                <a:sym typeface="Calibri"/>
              </a:rPr>
              <a:t> (ABAP development tools) on eclipse</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Use Steampunk (RAP – Restful Application Programming model) to build Fiori Applications and services. SAP technologies like </a:t>
            </a:r>
            <a:r>
              <a:rPr lang="en-US" sz="1800" dirty="0" err="1">
                <a:solidFill>
                  <a:schemeClr val="dk1"/>
                </a:solidFill>
                <a:latin typeface="Calibri"/>
                <a:ea typeface="Calibri"/>
                <a:cs typeface="Calibri"/>
                <a:sym typeface="Calibri"/>
              </a:rPr>
              <a:t>Dynpro</a:t>
            </a:r>
            <a:r>
              <a:rPr lang="en-US" sz="1800" dirty="0">
                <a:solidFill>
                  <a:schemeClr val="dk1"/>
                </a:solidFill>
                <a:latin typeface="Calibri"/>
                <a:ea typeface="Calibri"/>
                <a:cs typeface="Calibri"/>
                <a:sym typeface="Calibri"/>
              </a:rPr>
              <a:t> and </a:t>
            </a:r>
            <a:r>
              <a:rPr lang="en-US" sz="1800" dirty="0" err="1">
                <a:solidFill>
                  <a:schemeClr val="dk1"/>
                </a:solidFill>
                <a:latin typeface="Calibri"/>
                <a:ea typeface="Calibri"/>
                <a:cs typeface="Calibri"/>
                <a:sym typeface="Calibri"/>
              </a:rPr>
              <a:t>webdynpro</a:t>
            </a:r>
            <a:r>
              <a:rPr lang="en-US" sz="1800" dirty="0">
                <a:solidFill>
                  <a:schemeClr val="dk1"/>
                </a:solidFill>
                <a:latin typeface="Calibri"/>
                <a:ea typeface="Calibri"/>
                <a:cs typeface="Calibri"/>
                <a:sym typeface="Calibri"/>
              </a:rPr>
              <a:t> are not released for cloud development.</a:t>
            </a:r>
            <a:endParaRPr dirty="0"/>
          </a:p>
        </p:txBody>
      </p:sp>
      <p:sp>
        <p:nvSpPr>
          <p:cNvPr id="1942" name="Google Shape;1942;p112"/>
          <p:cNvSpPr txBox="1"/>
          <p:nvPr/>
        </p:nvSpPr>
        <p:spPr>
          <a:xfrm>
            <a:off x="191294" y="219259"/>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What is ABAP Cloud Development Means:</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48"/>
        <p:cNvGrpSpPr/>
        <p:nvPr/>
      </p:nvGrpSpPr>
      <p:grpSpPr>
        <a:xfrm>
          <a:off x="0" y="0"/>
          <a:ext cx="0" cy="0"/>
          <a:chOff x="0" y="0"/>
          <a:chExt cx="0" cy="0"/>
        </a:xfrm>
      </p:grpSpPr>
      <p:sp>
        <p:nvSpPr>
          <p:cNvPr id="1950" name="Google Shape;1950;p113"/>
          <p:cNvSpPr txBox="1"/>
          <p:nvPr/>
        </p:nvSpPr>
        <p:spPr>
          <a:xfrm>
            <a:off x="224979" y="788088"/>
            <a:ext cx="11806237" cy="2862322"/>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If we are using SAP BTP to develop side by side extensions, full stack SAP applications in BTP (Steampunk)</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If we are using In-app Developer extensibility with released objects in S/4HANA (all editions) with RAP (Embedded Steampunk)</a:t>
            </a:r>
            <a:endParaRPr/>
          </a:p>
          <a:p>
            <a:pPr marL="285750" marR="0" lvl="0" indent="-171450" algn="l" rtl="0">
              <a:spcBef>
                <a:spcPts val="0"/>
              </a:spcBef>
              <a:spcAft>
                <a:spcPts val="0"/>
              </a:spcAft>
              <a:buClr>
                <a:schemeClr val="dk1"/>
              </a:buClr>
              <a:buSzPts val="1800"/>
              <a:buFont typeface="Arial"/>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If you using RAP and enhancing your Standard SAP Applications delivered by SAP in S/4HANA system, the recommended approach is Embedded Steampunk.</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Every Customer using S/4HANA can decide whether they want to use new approach (embedded Steampunk) or classic extension approach (BADI) @ Object level</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This can be done by switching a setting @ object level.</a:t>
            </a:r>
            <a:endParaRPr/>
          </a:p>
        </p:txBody>
      </p:sp>
      <p:sp>
        <p:nvSpPr>
          <p:cNvPr id="1951" name="Google Shape;1951;p113"/>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What is Embedded Steampunk</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17</a:t>
            </a: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2689</TotalTime>
  <Words>937</Words>
  <Application>Microsoft Office PowerPoint</Application>
  <PresentationFormat>Custom</PresentationFormat>
  <Paragraphs>115</Paragraphs>
  <Slides>13</Slides>
  <Notes>11</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13</vt:i4>
      </vt:variant>
    </vt:vector>
  </HeadingPairs>
  <TitlesOfParts>
    <vt:vector size="26" baseType="lpstr">
      <vt:lpstr>Corben</vt:lpstr>
      <vt:lpstr>Open Sans</vt:lpstr>
      <vt:lpstr>Arial Black</vt:lpstr>
      <vt:lpstr>Cambria</vt:lpstr>
      <vt:lpstr>Segoe UI</vt:lpstr>
      <vt:lpstr>Segoe UI Light</vt:lpstr>
      <vt:lpstr>Cooper Black</vt:lpstr>
      <vt:lpstr>Quattrocento Sans</vt:lpstr>
      <vt:lpstr>Calibri</vt:lpstr>
      <vt:lpstr>Arial</vt:lpstr>
      <vt:lpstr>Office Theme</vt:lpstr>
      <vt:lpstr>2_Office Theme</vt:lpstr>
      <vt:lpstr>3_Office Theme</vt:lpstr>
      <vt:lpstr>SAP BTP ABAP  on Cloud / RAP  Training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113</cp:revision>
  <dcterms:created xsi:type="dcterms:W3CDTF">2023-10-03T21:33:12Z</dcterms:created>
  <dcterms:modified xsi:type="dcterms:W3CDTF">2025-09-13T01:52:22Z</dcterms:modified>
</cp:coreProperties>
</file>